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60" r:id="rId4"/>
    <p:sldId id="273" r:id="rId5"/>
    <p:sldId id="272" r:id="rId6"/>
    <p:sldId id="266" r:id="rId7"/>
    <p:sldId id="271" r:id="rId8"/>
    <p:sldId id="263" r:id="rId9"/>
    <p:sldId id="264" r:id="rId10"/>
    <p:sldId id="275" r:id="rId11"/>
    <p:sldId id="265" r:id="rId12"/>
    <p:sldId id="262" r:id="rId13"/>
    <p:sldId id="267" r:id="rId14"/>
    <p:sldId id="268" r:id="rId15"/>
    <p:sldId id="269" r:id="rId16"/>
    <p:sldId id="270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69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AEFE-1920-0917-C513-85C515EE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B0B6D-1025-C48A-E80A-B837923AF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9DB07-9A8A-0B2D-92F1-1112415C1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AEE8D-CEE1-89FB-1CE6-D71DB668E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3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F689-4CE4-5D0B-9329-6081D7D3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05BC7-CD51-11F3-A44B-8BCE2A307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16E0F-3A41-5FCE-0EA7-D36A3F3B6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5C1E6-A6D2-51DD-7AB5-609794F2C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40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8DE8-EFC2-2A37-CF54-434AE4CE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6ECFF-7D69-516D-FAAC-638210FCC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D19BC-10CD-4F13-1772-EF2E30A35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8A38E-2918-50FB-FA49-92BC74E0F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64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04C1-50EF-FF24-9110-A0750C68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F829D-053C-1274-B787-63F65AFE8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0803A-90E5-2F91-6E55-4640BC2D0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052C4-FE71-A5CE-C90E-9DC6CC15B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83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F4CD-ED35-2671-9D41-BBCA7F59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D9526-0B65-F63B-925B-60268809C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CE942-3F74-95C9-4F34-A0BF7FF26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BD3E2-E320-4BD3-E3CB-A74522235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74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7FC6-40DA-51E7-9BCD-0BB0F2DC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D2248-E0D5-DA80-027F-8ECE4E3BC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05FCB-59FE-9D8B-6ACC-08E592137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AB27C-256C-17BC-3508-08EA0BFCA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69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5088636"/>
            <a:ext cx="9070848" cy="54864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10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154680"/>
            <a:ext cx="2743200" cy="2743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Capstone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Emerald Cohort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Fintech · Government · Healthcare · Telecom · Oil &amp; Gas ·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6BBF9-3E6B-C0E9-98A8-8CBE5334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F9504C-1158-CC73-7F6A-4174F2CFE87F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8B4DCF-A914-8C28-EBD3-05E14B5BADC5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29860B-897F-F911-C977-EC58AE5DF9ED}"/>
              </a:ext>
            </a:extLst>
          </p:cNvPr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B82C4733-E017-5EE0-37F9-8633EC140DF8}"/>
              </a:ext>
            </a:extLst>
          </p:cNvPr>
          <p:cNvSpPr/>
          <p:nvPr/>
        </p:nvSpPr>
        <p:spPr>
          <a:xfrm>
            <a:off x="163502" y="104491"/>
            <a:ext cx="866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AD7976-65B4-E5F7-440C-11C0AEB12843}"/>
              </a:ext>
            </a:extLst>
          </p:cNvPr>
          <p:cNvSpPr txBox="1"/>
          <p:nvPr/>
        </p:nvSpPr>
        <p:spPr>
          <a:xfrm>
            <a:off x="274320" y="754737"/>
            <a:ext cx="84942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Between 2019 to 2024 cyberattacks incidents took place  across 7 critical sectors, but decision-makers lack clear, data-driven visibility into where losses are greatest, which threats are accelerating, and whether response resources are deployed effectively. Without this insight, investments are being made blindly and vulnerabilities remain unaddressed.</a:t>
            </a:r>
          </a:p>
        </p:txBody>
      </p:sp>
    </p:spTree>
    <p:extLst>
      <p:ext uri="{BB962C8B-B14F-4D97-AF65-F5344CB8AC3E}">
        <p14:creationId xmlns:p14="http://schemas.microsoft.com/office/powerpoint/2010/main" val="314406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19" y="778512"/>
            <a:ext cx="7870501" cy="50516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8512"/>
            <a:ext cx="640080" cy="505161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8512"/>
            <a:ext cx="640080" cy="505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39" y="869952"/>
            <a:ext cx="6313699" cy="378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financial losses by incident status and sector to expose where the biggest financial risks lie.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19" y="1393401"/>
            <a:ext cx="7870501" cy="50516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393401"/>
            <a:ext cx="640080" cy="505161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93401"/>
            <a:ext cx="640080" cy="505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39" y="1484841"/>
            <a:ext cx="6313699" cy="378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response team performance and identify resource gaps across cities.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19" y="1993999"/>
            <a:ext cx="7870501" cy="50516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93999"/>
            <a:ext cx="640080" cy="505161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993999"/>
            <a:ext cx="640080" cy="505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39" y="2085439"/>
            <a:ext cx="6313699" cy="378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year-over-year attack trends to spot the fastest-growing threats.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19" y="2606224"/>
            <a:ext cx="7870501" cy="50516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06224"/>
            <a:ext cx="640080" cy="505161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606224"/>
            <a:ext cx="640080" cy="505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39" y="2697664"/>
            <a:ext cx="6313699" cy="378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persistently targeted organizations that require continuous monitoring.</a:t>
            </a:r>
            <a:endParaRPr lang="en-US" sz="10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63F12F04-AD8B-DA9F-501A-4E4678657B08}"/>
              </a:ext>
            </a:extLst>
          </p:cNvPr>
          <p:cNvSpPr/>
          <p:nvPr/>
        </p:nvSpPr>
        <p:spPr>
          <a:xfrm>
            <a:off x="163502" y="104491"/>
            <a:ext cx="866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5520C-7609-E8F4-1DE1-F0D7AEF3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21F83B-389B-D995-42E6-00B9B8349DE1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B78482-D8CD-74AC-FD68-40AF7CC99D8E}"/>
              </a:ext>
            </a:extLst>
          </p:cNvPr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3A3DA6-25D2-B38B-5A26-63CF63FDA823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338E36-4C54-1226-AF36-AF3190317CA0}"/>
              </a:ext>
            </a:extLst>
          </p:cNvPr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72A317-2B7A-5EDE-EC23-D8B6AC86EA79}"/>
              </a:ext>
            </a:extLst>
          </p:cNvPr>
          <p:cNvSpPr/>
          <p:nvPr/>
        </p:nvSpPr>
        <p:spPr>
          <a:xfrm>
            <a:off x="274320" y="74980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CFC8F2-C3FC-116A-E146-6EF02D5C5859}"/>
              </a:ext>
            </a:extLst>
          </p:cNvPr>
          <p:cNvSpPr/>
          <p:nvPr/>
        </p:nvSpPr>
        <p:spPr>
          <a:xfrm>
            <a:off x="274320" y="749808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FF27CE-B6D2-87E8-E1B3-BB7C2CB1F102}"/>
              </a:ext>
            </a:extLst>
          </p:cNvPr>
          <p:cNvSpPr/>
          <p:nvPr/>
        </p:nvSpPr>
        <p:spPr>
          <a:xfrm>
            <a:off x="274320" y="74980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6E9C132-C449-4549-A6F9-7C963B81C8C6}"/>
              </a:ext>
            </a:extLst>
          </p:cNvPr>
          <p:cNvSpPr/>
          <p:nvPr/>
        </p:nvSpPr>
        <p:spPr>
          <a:xfrm>
            <a:off x="1005840" y="8412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percentage of financial loss suffered per incident status?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9783F6-BEC4-2DA8-1B09-0E023CA6B15F}"/>
              </a:ext>
            </a:extLst>
          </p:cNvPr>
          <p:cNvSpPr/>
          <p:nvPr/>
        </p:nvSpPr>
        <p:spPr>
          <a:xfrm>
            <a:off x="4709160" y="74980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3E6C888-C65C-B648-3291-36037D363958}"/>
              </a:ext>
            </a:extLst>
          </p:cNvPr>
          <p:cNvSpPr/>
          <p:nvPr/>
        </p:nvSpPr>
        <p:spPr>
          <a:xfrm>
            <a:off x="4709160" y="749808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8DCCFE-3595-4765-0044-D671B1630404}"/>
              </a:ext>
            </a:extLst>
          </p:cNvPr>
          <p:cNvSpPr/>
          <p:nvPr/>
        </p:nvSpPr>
        <p:spPr>
          <a:xfrm>
            <a:off x="4709160" y="74980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AB6E2E-F408-B614-80E5-A495E021B901}"/>
              </a:ext>
            </a:extLst>
          </p:cNvPr>
          <p:cNvSpPr/>
          <p:nvPr/>
        </p:nvSpPr>
        <p:spPr>
          <a:xfrm>
            <a:off x="5440680" y="8412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3 teams with the highest number of resolved incidents?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4935AC-3074-D28E-89FF-667E69A4E221}"/>
              </a:ext>
            </a:extLst>
          </p:cNvPr>
          <p:cNvSpPr/>
          <p:nvPr/>
        </p:nvSpPr>
        <p:spPr>
          <a:xfrm>
            <a:off x="274320" y="159105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E630069-8014-256C-F8A2-91BC0953A536}"/>
              </a:ext>
            </a:extLst>
          </p:cNvPr>
          <p:cNvSpPr/>
          <p:nvPr/>
        </p:nvSpPr>
        <p:spPr>
          <a:xfrm>
            <a:off x="274320" y="1591056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0677B5-7EBC-ECF0-B181-0DA51C8D728D}"/>
              </a:ext>
            </a:extLst>
          </p:cNvPr>
          <p:cNvSpPr/>
          <p:nvPr/>
        </p:nvSpPr>
        <p:spPr>
          <a:xfrm>
            <a:off x="274320" y="159105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1B9B7F-4196-C125-B08C-30E1ED304184}"/>
              </a:ext>
            </a:extLst>
          </p:cNvPr>
          <p:cNvSpPr/>
          <p:nvPr/>
        </p:nvSpPr>
        <p:spPr>
          <a:xfrm>
            <a:off x="1005840" y="168249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organization has the highest number of affected users?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0C9B4E9-F29A-1312-27CF-27D1D9E16CC3}"/>
              </a:ext>
            </a:extLst>
          </p:cNvPr>
          <p:cNvSpPr/>
          <p:nvPr/>
        </p:nvSpPr>
        <p:spPr>
          <a:xfrm>
            <a:off x="4709160" y="159105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9916009-DD1F-402C-DF13-4CEEA8191BC2}"/>
              </a:ext>
            </a:extLst>
          </p:cNvPr>
          <p:cNvSpPr/>
          <p:nvPr/>
        </p:nvSpPr>
        <p:spPr>
          <a:xfrm>
            <a:off x="4709160" y="1591056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3A00D93-2A36-5857-BAFC-9E2E3058995B}"/>
              </a:ext>
            </a:extLst>
          </p:cNvPr>
          <p:cNvSpPr/>
          <p:nvPr/>
        </p:nvSpPr>
        <p:spPr>
          <a:xfrm>
            <a:off x="4709160" y="159105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AA0DB65-54A4-6E72-5F2A-64C346F6D6FD}"/>
              </a:ext>
            </a:extLst>
          </p:cNvPr>
          <p:cNvSpPr/>
          <p:nvPr/>
        </p:nvSpPr>
        <p:spPr>
          <a:xfrm>
            <a:off x="5440680" y="168249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have total financial loss above the national sector average, and by how much?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2BA8449-225A-A0F7-AB55-8A4A07FD1E98}"/>
              </a:ext>
            </a:extLst>
          </p:cNvPr>
          <p:cNvSpPr/>
          <p:nvPr/>
        </p:nvSpPr>
        <p:spPr>
          <a:xfrm>
            <a:off x="274320" y="243230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127B171-A2F3-F79A-8DF4-4F2CAF825DF5}"/>
              </a:ext>
            </a:extLst>
          </p:cNvPr>
          <p:cNvSpPr/>
          <p:nvPr/>
        </p:nvSpPr>
        <p:spPr>
          <a:xfrm>
            <a:off x="274320" y="2432304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A79366C-95F6-3FE6-8A27-639999A1EF22}"/>
              </a:ext>
            </a:extLst>
          </p:cNvPr>
          <p:cNvSpPr/>
          <p:nvPr/>
        </p:nvSpPr>
        <p:spPr>
          <a:xfrm>
            <a:off x="274320" y="243230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0EF76E1-A10E-D4AC-AC6F-AB0C19FBC742}"/>
              </a:ext>
            </a:extLst>
          </p:cNvPr>
          <p:cNvSpPr/>
          <p:nvPr/>
        </p:nvSpPr>
        <p:spPr>
          <a:xfrm>
            <a:off x="1005840" y="252374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year-over-year change in total financial loss per attack type, and which are growing fastest?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66753C4-330D-694C-1562-F080D3312263}"/>
              </a:ext>
            </a:extLst>
          </p:cNvPr>
          <p:cNvSpPr/>
          <p:nvPr/>
        </p:nvSpPr>
        <p:spPr>
          <a:xfrm>
            <a:off x="4709160" y="243230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C3056DE-E0B2-8569-54AE-E8430CA410E6}"/>
              </a:ext>
            </a:extLst>
          </p:cNvPr>
          <p:cNvSpPr/>
          <p:nvPr/>
        </p:nvSpPr>
        <p:spPr>
          <a:xfrm>
            <a:off x="4709160" y="2432304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80F9A67-3EE8-44ED-6F40-385C068A88D4}"/>
              </a:ext>
            </a:extLst>
          </p:cNvPr>
          <p:cNvSpPr/>
          <p:nvPr/>
        </p:nvSpPr>
        <p:spPr>
          <a:xfrm>
            <a:off x="4709160" y="243230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60E578D-E599-3CDD-4046-314E7E91F943}"/>
              </a:ext>
            </a:extLst>
          </p:cNvPr>
          <p:cNvSpPr/>
          <p:nvPr/>
        </p:nvSpPr>
        <p:spPr>
          <a:xfrm>
            <a:off x="5440680" y="252374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consistently produce the highest cybersecurity incidents across all 6 years?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8AEE397-C496-1A76-AFA4-C11514F2A2BB}"/>
              </a:ext>
            </a:extLst>
          </p:cNvPr>
          <p:cNvSpPr/>
          <p:nvPr/>
        </p:nvSpPr>
        <p:spPr>
          <a:xfrm>
            <a:off x="274320" y="327355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DE4C140-D85E-F75B-ED00-DEDF19BE4135}"/>
              </a:ext>
            </a:extLst>
          </p:cNvPr>
          <p:cNvSpPr/>
          <p:nvPr/>
        </p:nvSpPr>
        <p:spPr>
          <a:xfrm>
            <a:off x="274320" y="3273552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A80A6A-F8D1-1526-A83A-1B838090A259}"/>
              </a:ext>
            </a:extLst>
          </p:cNvPr>
          <p:cNvSpPr/>
          <p:nvPr/>
        </p:nvSpPr>
        <p:spPr>
          <a:xfrm>
            <a:off x="274320" y="32735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RQ7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1FA6F1C-1D74-EE5D-5FD8-ABECFE1C61F4}"/>
              </a:ext>
            </a:extLst>
          </p:cNvPr>
          <p:cNvSpPr/>
          <p:nvPr/>
        </p:nvSpPr>
        <p:spPr>
          <a:xfrm>
            <a:off x="1005840" y="33649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organizations have been attacked in every single year from 2019 to 2024?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8CB981E-C491-2AF1-BA51-8344636BBBAA}"/>
              </a:ext>
            </a:extLst>
          </p:cNvPr>
          <p:cNvSpPr/>
          <p:nvPr/>
        </p:nvSpPr>
        <p:spPr>
          <a:xfrm>
            <a:off x="4709160" y="327355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42EF626-628B-5D53-568B-E3D936468A76}"/>
              </a:ext>
            </a:extLst>
          </p:cNvPr>
          <p:cNvSpPr/>
          <p:nvPr/>
        </p:nvSpPr>
        <p:spPr>
          <a:xfrm>
            <a:off x="4709160" y="3273552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A64469A-DBF1-4DFD-11B8-F0FF3338F7FF}"/>
              </a:ext>
            </a:extLst>
          </p:cNvPr>
          <p:cNvSpPr/>
          <p:nvPr/>
        </p:nvSpPr>
        <p:spPr>
          <a:xfrm>
            <a:off x="4709160" y="32735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RQ8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A2F6BE2-A9B6-298E-87A5-9140C4538AD6}"/>
              </a:ext>
            </a:extLst>
          </p:cNvPr>
          <p:cNvSpPr/>
          <p:nvPr/>
        </p:nvSpPr>
        <p:spPr>
          <a:xfrm>
            <a:off x="5440680" y="33649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financial exposure from unresolved and under-investigation incidents per sector?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8B91BB-AEB0-B51E-3459-418746ABD88D}"/>
              </a:ext>
            </a:extLst>
          </p:cNvPr>
          <p:cNvSpPr/>
          <p:nvPr/>
        </p:nvSpPr>
        <p:spPr>
          <a:xfrm>
            <a:off x="2514600" y="411480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691690C-DD38-6171-2299-672C4056FC52}"/>
              </a:ext>
            </a:extLst>
          </p:cNvPr>
          <p:cNvSpPr/>
          <p:nvPr/>
        </p:nvSpPr>
        <p:spPr>
          <a:xfrm>
            <a:off x="2514600" y="4114800"/>
            <a:ext cx="640080" cy="73152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130C89A-5D64-563C-FB01-6AFA38B989BE}"/>
              </a:ext>
            </a:extLst>
          </p:cNvPr>
          <p:cNvSpPr/>
          <p:nvPr/>
        </p:nvSpPr>
        <p:spPr>
          <a:xfrm>
            <a:off x="2514600" y="4114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RQ9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3D3DA63-93FC-F2D2-8C1B-5527D570A5E2}"/>
              </a:ext>
            </a:extLst>
          </p:cNvPr>
          <p:cNvSpPr/>
          <p:nvPr/>
        </p:nvSpPr>
        <p:spPr>
          <a:xfrm>
            <a:off x="3246120" y="4206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handle a disproportionately high number of incidents relative to their team count?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755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05496-D123-55A5-6FCF-7E9E72FB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916547-7217-254B-78DE-F8852B14EAE4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2DB619-AA8E-A1D5-D973-9EDB488ED6B7}"/>
              </a:ext>
            </a:extLst>
          </p:cNvPr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C2F911-A526-B166-F84B-6938426E7134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DEC97C-7B71-2D36-D4ED-3BC3FCA3E9F9}"/>
              </a:ext>
            </a:extLst>
          </p:cNvPr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AE0C69-047E-CF51-EBE4-B33DF1B763F0}"/>
              </a:ext>
            </a:extLst>
          </p:cNvPr>
          <p:cNvSpPr/>
          <p:nvPr/>
        </p:nvSpPr>
        <p:spPr>
          <a:xfrm>
            <a:off x="228600" y="74980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B8C547-719D-2686-55AD-F33A0488837E}"/>
              </a:ext>
            </a:extLst>
          </p:cNvPr>
          <p:cNvSpPr/>
          <p:nvPr/>
        </p:nvSpPr>
        <p:spPr>
          <a:xfrm>
            <a:off x="228600" y="749808"/>
            <a:ext cx="2029968" cy="54864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DCBE8B-FAFF-1392-2E21-9F8564EF4F48}"/>
              </a:ext>
            </a:extLst>
          </p:cNvPr>
          <p:cNvSpPr/>
          <p:nvPr/>
        </p:nvSpPr>
        <p:spPr>
          <a:xfrm>
            <a:off x="228600" y="1005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B9D4D4-C0A7-C910-64F6-487E17D1B2AD}"/>
              </a:ext>
            </a:extLst>
          </p:cNvPr>
          <p:cNvSpPr/>
          <p:nvPr/>
        </p:nvSpPr>
        <p:spPr>
          <a:xfrm>
            <a:off x="228600" y="195681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9B92126-CA5D-8FA5-A36F-7DD76D880919}"/>
              </a:ext>
            </a:extLst>
          </p:cNvPr>
          <p:cNvSpPr/>
          <p:nvPr/>
        </p:nvSpPr>
        <p:spPr>
          <a:xfrm>
            <a:off x="2441448" y="74980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899175-B811-3B65-0FBF-A4BAC0A7809E}"/>
              </a:ext>
            </a:extLst>
          </p:cNvPr>
          <p:cNvSpPr/>
          <p:nvPr/>
        </p:nvSpPr>
        <p:spPr>
          <a:xfrm>
            <a:off x="2441448" y="749808"/>
            <a:ext cx="2029968" cy="54864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755F82-DF68-6CC5-7706-CF671CA76777}"/>
              </a:ext>
            </a:extLst>
          </p:cNvPr>
          <p:cNvSpPr/>
          <p:nvPr/>
        </p:nvSpPr>
        <p:spPr>
          <a:xfrm>
            <a:off x="2441448" y="1005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₦3.3T+</a:t>
            </a:r>
            <a:endParaRPr lang="en-US" sz="3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D36F84C-1E8F-4204-10D0-CE75E537D4AE}"/>
              </a:ext>
            </a:extLst>
          </p:cNvPr>
          <p:cNvSpPr/>
          <p:nvPr/>
        </p:nvSpPr>
        <p:spPr>
          <a:xfrm>
            <a:off x="2441448" y="195681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Financial Loss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70DBCC-EB15-64BB-1157-07E48B0192ED}"/>
              </a:ext>
            </a:extLst>
          </p:cNvPr>
          <p:cNvSpPr/>
          <p:nvPr/>
        </p:nvSpPr>
        <p:spPr>
          <a:xfrm>
            <a:off x="4654296" y="74980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270550D-011A-EF05-38CC-65F390AB206D}"/>
              </a:ext>
            </a:extLst>
          </p:cNvPr>
          <p:cNvSpPr/>
          <p:nvPr/>
        </p:nvSpPr>
        <p:spPr>
          <a:xfrm>
            <a:off x="4654296" y="749808"/>
            <a:ext cx="2029968" cy="54864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0D986F-CDB7-2730-E87C-4F83595304B8}"/>
              </a:ext>
            </a:extLst>
          </p:cNvPr>
          <p:cNvSpPr/>
          <p:nvPr/>
        </p:nvSpPr>
        <p:spPr>
          <a:xfrm>
            <a:off x="4654296" y="1005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049CE7-9FA4-5013-6023-34D72848D148}"/>
              </a:ext>
            </a:extLst>
          </p:cNvPr>
          <p:cNvSpPr/>
          <p:nvPr/>
        </p:nvSpPr>
        <p:spPr>
          <a:xfrm>
            <a:off x="4654296" y="195681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22577E8-9755-E531-DD85-6F524B93A582}"/>
              </a:ext>
            </a:extLst>
          </p:cNvPr>
          <p:cNvSpPr/>
          <p:nvPr/>
        </p:nvSpPr>
        <p:spPr>
          <a:xfrm>
            <a:off x="6867144" y="749808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6FD7469-99DE-8971-445C-E37BACFCB0E2}"/>
              </a:ext>
            </a:extLst>
          </p:cNvPr>
          <p:cNvSpPr/>
          <p:nvPr/>
        </p:nvSpPr>
        <p:spPr>
          <a:xfrm>
            <a:off x="6867144" y="749808"/>
            <a:ext cx="2029968" cy="54864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B9F495C-9F9D-E0BF-7E31-C4A4EF7647D7}"/>
              </a:ext>
            </a:extLst>
          </p:cNvPr>
          <p:cNvSpPr/>
          <p:nvPr/>
        </p:nvSpPr>
        <p:spPr>
          <a:xfrm>
            <a:off x="6867144" y="1005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C7D7A22-DD18-6B63-BB52-C047F5F3142B}"/>
              </a:ext>
            </a:extLst>
          </p:cNvPr>
          <p:cNvSpPr/>
          <p:nvPr/>
        </p:nvSpPr>
        <p:spPr>
          <a:xfrm>
            <a:off x="6867144" y="195681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 Rate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860E0AC-6E12-A853-52B1-C33BCE6C53ED}"/>
              </a:ext>
            </a:extLst>
          </p:cNvPr>
          <p:cNvSpPr/>
          <p:nvPr/>
        </p:nvSpPr>
        <p:spPr>
          <a:xfrm>
            <a:off x="228600" y="283464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65E9F15-DBE7-A55B-989C-0A2D12A37E79}"/>
              </a:ext>
            </a:extLst>
          </p:cNvPr>
          <p:cNvSpPr/>
          <p:nvPr/>
        </p:nvSpPr>
        <p:spPr>
          <a:xfrm>
            <a:off x="228600" y="2834640"/>
            <a:ext cx="2029968" cy="54864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5BA9661-70E3-477A-FF79-6027641437E2}"/>
              </a:ext>
            </a:extLst>
          </p:cNvPr>
          <p:cNvSpPr/>
          <p:nvPr/>
        </p:nvSpPr>
        <p:spPr>
          <a:xfrm>
            <a:off x="228600" y="309067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1256540-884D-1C25-53E7-BD023970DC38}"/>
              </a:ext>
            </a:extLst>
          </p:cNvPr>
          <p:cNvSpPr/>
          <p:nvPr/>
        </p:nvSpPr>
        <p:spPr>
          <a:xfrm>
            <a:off x="228600" y="4041648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Affected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E7210D2-F7A5-4FA0-DAA6-6FDF05D9EEC5}"/>
              </a:ext>
            </a:extLst>
          </p:cNvPr>
          <p:cNvSpPr/>
          <p:nvPr/>
        </p:nvSpPr>
        <p:spPr>
          <a:xfrm>
            <a:off x="2441448" y="283464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71BBC4-6ED3-9F90-B4B6-DB65E457C131}"/>
              </a:ext>
            </a:extLst>
          </p:cNvPr>
          <p:cNvSpPr/>
          <p:nvPr/>
        </p:nvSpPr>
        <p:spPr>
          <a:xfrm>
            <a:off x="2441448" y="2834640"/>
            <a:ext cx="2029968" cy="54864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0C7B8E8-BA5D-9D21-CE1C-574194BC2DFF}"/>
              </a:ext>
            </a:extLst>
          </p:cNvPr>
          <p:cNvSpPr/>
          <p:nvPr/>
        </p:nvSpPr>
        <p:spPr>
          <a:xfrm>
            <a:off x="2441448" y="309067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5B71162-EEF9-B0E7-2100-ACACB2EC732F}"/>
              </a:ext>
            </a:extLst>
          </p:cNvPr>
          <p:cNvSpPr/>
          <p:nvPr/>
        </p:nvSpPr>
        <p:spPr>
          <a:xfrm>
            <a:off x="2441448" y="4041648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F78647C-3525-81F6-5838-1C98B4AADA9D}"/>
              </a:ext>
            </a:extLst>
          </p:cNvPr>
          <p:cNvSpPr/>
          <p:nvPr/>
        </p:nvSpPr>
        <p:spPr>
          <a:xfrm>
            <a:off x="4654296" y="283464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38F8E3D-89C1-1433-A6D1-CECEB92D9E43}"/>
              </a:ext>
            </a:extLst>
          </p:cNvPr>
          <p:cNvSpPr/>
          <p:nvPr/>
        </p:nvSpPr>
        <p:spPr>
          <a:xfrm>
            <a:off x="4654296" y="2834640"/>
            <a:ext cx="2029968" cy="54864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50F8C49-9ECD-5E01-5053-591FAFAE3477}"/>
              </a:ext>
            </a:extLst>
          </p:cNvPr>
          <p:cNvSpPr/>
          <p:nvPr/>
        </p:nvSpPr>
        <p:spPr>
          <a:xfrm>
            <a:off x="4654296" y="309067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ABCC5AE-2AD5-B05B-2FBE-4A47082FE175}"/>
              </a:ext>
            </a:extLst>
          </p:cNvPr>
          <p:cNvSpPr/>
          <p:nvPr/>
        </p:nvSpPr>
        <p:spPr>
          <a:xfrm>
            <a:off x="4654296" y="4041648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Teams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5305EAE-C8DE-47BC-631B-07D280A33856}"/>
              </a:ext>
            </a:extLst>
          </p:cNvPr>
          <p:cNvSpPr/>
          <p:nvPr/>
        </p:nvSpPr>
        <p:spPr>
          <a:xfrm>
            <a:off x="6867144" y="283464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C6ADA4B-313E-B914-9985-9BEA20971196}"/>
              </a:ext>
            </a:extLst>
          </p:cNvPr>
          <p:cNvSpPr/>
          <p:nvPr/>
        </p:nvSpPr>
        <p:spPr>
          <a:xfrm>
            <a:off x="6867144" y="2834640"/>
            <a:ext cx="2029968" cy="54864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A135676-EDF0-337B-3842-778F1B807F58}"/>
              </a:ext>
            </a:extLst>
          </p:cNvPr>
          <p:cNvSpPr/>
          <p:nvPr/>
        </p:nvSpPr>
        <p:spPr>
          <a:xfrm>
            <a:off x="6867144" y="309067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₦720.8M</a:t>
            </a:r>
            <a:endParaRPr lang="en-US" sz="3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27C6B29-FE13-8949-CF33-0D98826CDD66}"/>
              </a:ext>
            </a:extLst>
          </p:cNvPr>
          <p:cNvSpPr/>
          <p:nvPr/>
        </p:nvSpPr>
        <p:spPr>
          <a:xfrm>
            <a:off x="6867144" y="4041648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Incident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194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STATUS &amp; UNRECOVERED FINANCIAL LOSS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36839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Incidents have the highest financial loss by approximately 60% (RQ 1)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CE4CD0-AFA0-93D6-2E21-866EA5CD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66" y="1388929"/>
            <a:ext cx="3764278" cy="340450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665E2D-7414-CC48-972E-352ECF99067B}"/>
              </a:ext>
            </a:extLst>
          </p:cNvPr>
          <p:cNvCxnSpPr>
            <a:cxnSpLocks/>
          </p:cNvCxnSpPr>
          <p:nvPr/>
        </p:nvCxnSpPr>
        <p:spPr>
          <a:xfrm>
            <a:off x="4311197" y="713232"/>
            <a:ext cx="0" cy="415236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71655A16-BCD4-A49C-9BAB-63D4234BC7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85"/>
          <a:stretch/>
        </p:blipFill>
        <p:spPr>
          <a:xfrm>
            <a:off x="4427912" y="2028636"/>
            <a:ext cx="4475668" cy="2148510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B6336049-D028-BEBD-6329-58EEAB75935F}"/>
              </a:ext>
            </a:extLst>
          </p:cNvPr>
          <p:cNvSpPr/>
          <p:nvPr/>
        </p:nvSpPr>
        <p:spPr>
          <a:xfrm>
            <a:off x="4572000" y="693954"/>
            <a:ext cx="4396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 Response team have handled a greater number of Incidents compared to other teams from 2019 to 2024 (RQ 2)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3A82E-1FA8-6678-24DF-AA8C85FB7766}"/>
              </a:ext>
            </a:extLst>
          </p:cNvPr>
          <p:cNvSpPr txBox="1"/>
          <p:nvPr/>
        </p:nvSpPr>
        <p:spPr>
          <a:xfrm>
            <a:off x="4507532" y="1552478"/>
            <a:ext cx="439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TEAMS WITH THE HIGHEST NO OF RESOLVED INCIDENTS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E3486-5823-B512-FC75-2776512D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5001AB-BD5E-5787-927A-735913199420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095611-00D4-FCDE-91BB-D796DCEAD4CA}"/>
              </a:ext>
            </a:extLst>
          </p:cNvPr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AND AFFECTED USERS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129E39-2FD1-2E86-BE51-024C40BB1CBC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BA3535-6A71-33DF-E2C2-0A05A55229F2}"/>
              </a:ext>
            </a:extLst>
          </p:cNvPr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9BF012-1C6D-4C3E-9DEA-0A589C40319B}"/>
              </a:ext>
            </a:extLst>
          </p:cNvPr>
          <p:cNvSpPr/>
          <p:nvPr/>
        </p:nvSpPr>
        <p:spPr>
          <a:xfrm>
            <a:off x="320040" y="71323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3.875 </a:t>
            </a:r>
            <a:r>
              <a:rPr lang="en-US" sz="1200" i="1" dirty="0" err="1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Miliion</a:t>
            </a: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UNILAG Medical Centre has the highest no. of Affected users. (RQ 3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FB1EC5-C885-1106-0C3F-F7286DCC1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7" y="1335878"/>
            <a:ext cx="8672945" cy="336328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3DC7B14-EB9A-0828-8111-3A158604A904}"/>
              </a:ext>
            </a:extLst>
          </p:cNvPr>
          <p:cNvSpPr/>
          <p:nvPr/>
        </p:nvSpPr>
        <p:spPr>
          <a:xfrm>
            <a:off x="1373719" y="461865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Note:  for the sake of clarity , only the top 7 organizations were shown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2330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ABOVE &amp; BELOW NATIONAL SECTOR AVERAGE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₦478.3B being the national sector average, Banking, Government and Fintech exceed the national sector average — all other sectors fall below it, with Education the furthest below. (RQ 4)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47548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Above Average: Banking, Fintech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475488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Below Average: Healthcare, Telecom, Oil &amp; Gas, Education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BB21F-D2F2-6BD6-5D67-41DDF5115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67" y="1145344"/>
            <a:ext cx="6759633" cy="3524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ATTACK GROWTH (2019–2024)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attacks grew by 1,541% between 2019 and 2024 — the fastest growing attack type in the dataset. (RQ 5)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1143000"/>
            <a:ext cx="2880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143000"/>
            <a:ext cx="2880360" cy="3474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1704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1581912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0" y="1636776"/>
            <a:ext cx="960120" cy="384048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163677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1,541%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16712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0" y="2221992"/>
            <a:ext cx="960120" cy="384048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2221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~850%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752344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2807208"/>
            <a:ext cx="960120" cy="384048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280720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337560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0" y="3392424"/>
            <a:ext cx="960120" cy="384048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33924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3922776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0" y="3977640"/>
            <a:ext cx="960120" cy="38404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39776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0760" y="43708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RQ5 — pct_growth_2019_2024 via LAG() &amp; FIRST_VALUE()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EDF6C7B-155C-7613-67AC-FE235C543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5483953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D9B5F-C65F-EDE7-8854-06B8FECAE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8CB951-2CB6-2E82-82BC-024450A513AB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5E8560-6EDC-9927-AD29-E5549D3E867A}"/>
              </a:ext>
            </a:extLst>
          </p:cNvPr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&amp; CITY RESOURCE GAPS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D6B865-1945-53E5-3AE3-B62F3995CF40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6D5F72-D93C-20E2-FCA1-4AE88E1F102D}"/>
              </a:ext>
            </a:extLst>
          </p:cNvPr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5C1EB6-8697-0124-DFF8-CE04C6D3B9D1}"/>
              </a:ext>
            </a:extLst>
          </p:cNvPr>
          <p:cNvSpPr/>
          <p:nvPr/>
        </p:nvSpPr>
        <p:spPr>
          <a:xfrm>
            <a:off x="320040" y="6029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chemeClr val="accent6">
                    <a:lumMod val="75000"/>
                  </a:schemeClr>
                </a:solidFill>
              </a:rPr>
              <a:t>January frequently saw a peak in cybersecurity incidents, accounting for half of the years observed</a:t>
            </a:r>
            <a:r>
              <a:rPr lang="en-US" sz="1200" i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(RQ6).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6099F2A-E6A9-4639-C2F4-569662132800}"/>
              </a:ext>
            </a:extLst>
          </p:cNvPr>
          <p:cNvSpPr/>
          <p:nvPr/>
        </p:nvSpPr>
        <p:spPr>
          <a:xfrm>
            <a:off x="1355582" y="4240705"/>
            <a:ext cx="6432836" cy="599613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4D2D006-6BED-4C7D-DC4B-0BA5FAAC2FD4}"/>
              </a:ext>
            </a:extLst>
          </p:cNvPr>
          <p:cNvSpPr/>
          <p:nvPr/>
        </p:nvSpPr>
        <p:spPr>
          <a:xfrm>
            <a:off x="1355583" y="4240705"/>
            <a:ext cx="107214" cy="599613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89A384E-95A2-D48A-86D4-5D49BE812D01}"/>
              </a:ext>
            </a:extLst>
          </p:cNvPr>
          <p:cNvSpPr/>
          <p:nvPr/>
        </p:nvSpPr>
        <p:spPr>
          <a:xfrm>
            <a:off x="1483598" y="4286425"/>
            <a:ext cx="6003980" cy="183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Peak Month</a:t>
            </a:r>
            <a:endParaRPr lang="en-US" sz="10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A7FA1E2-A299-C24C-9F92-BBE4C2F763C6}"/>
              </a:ext>
            </a:extLst>
          </p:cNvPr>
          <p:cNvSpPr/>
          <p:nvPr/>
        </p:nvSpPr>
        <p:spPr>
          <a:xfrm>
            <a:off x="1483598" y="4542457"/>
            <a:ext cx="6003980" cy="310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consistently peak in January — annual security reviews should be completed before year-end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8D36CA9-ED0E-3A54-6232-A7AFA64B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39"/>
          <a:stretch/>
        </p:blipFill>
        <p:spPr>
          <a:xfrm>
            <a:off x="1102548" y="1377031"/>
            <a:ext cx="6116044" cy="25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7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ATTACKED EVERY YEAR (2019–2024)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organizations recorded incidents in all 6 consecutive years — indicating persistent targeting and inadequate remediation (RQ7).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18872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188720"/>
            <a:ext cx="54864" cy="8046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2435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TeamApt leads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15270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total incidents — highest across all 6 years in the Fintech sector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06440" y="2139696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139696"/>
            <a:ext cx="54864" cy="80467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Dominance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24780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TeamApt, Piggyvest &amp; Kuda Bank are all Fintech firms — a sector pattern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06440" y="3090672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6440" y="3090672"/>
            <a:ext cx="54864" cy="804672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145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Exposure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3429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Stanbic IBTC, GTBank, Union Bank all appear — systemic bank vulnerability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06440" y="4041648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06440" y="4041648"/>
            <a:ext cx="54864" cy="804672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40965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Presence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4379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Ibadan is the only healthcare org in the persistent attack list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4FB5A60-EDB5-D10C-7C6C-2977870E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30" y="1169285"/>
            <a:ext cx="5611280" cy="3550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 BY SECTOR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0350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leads with the highest total financial exposure from currently unresolved and under-investigation (RQ8)</a:t>
            </a:r>
            <a:endParaRPr lang="en-US" sz="1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7C8ADED-DB35-BCCE-E96A-1F08C318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91" y="1106424"/>
            <a:ext cx="7668492" cy="35760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&amp; CITY RESOURCE GAPS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6029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faces the greatest resource pressure relative to team count (RQ9).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77840" y="179451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1794510"/>
            <a:ext cx="54864" cy="77724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05856" y="1840230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Resource Gap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05856" y="2096262"/>
            <a:ext cx="3072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Lagos: highest incidents with fewest teams — urgent need for additional response capacity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70891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2708910"/>
            <a:ext cx="54864" cy="777240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05856" y="2754630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Enugu Rising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705856" y="3010662"/>
            <a:ext cx="3072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Enugu's incident count is growing — early investment in response teams recommended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3711DA-5191-2B7E-3289-5EF3CE17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5"/>
          <a:stretch/>
        </p:blipFill>
        <p:spPr>
          <a:xfrm>
            <a:off x="70590" y="1531620"/>
            <a:ext cx="5399918" cy="2801183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12CAC1AA-1914-7F2C-079E-4B6538433F8A}"/>
              </a:ext>
            </a:extLst>
          </p:cNvPr>
          <p:cNvSpPr/>
          <p:nvPr/>
        </p:nvSpPr>
        <p:spPr>
          <a:xfrm>
            <a:off x="5751576" y="3531870"/>
            <a:ext cx="3072384" cy="390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only Abuja, Enugu and Lagos had combination of teams that had above the average no. of incidents (125) across all teams.</a:t>
            </a:r>
            <a:endParaRPr lang="en-US" sz="8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618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Highest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banking sector recorded the highest financial losses across all sectors — making it the most financially exposed sector in the dataset.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49808"/>
            <a:ext cx="54864" cy="126187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Peak Attack 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1704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January frequently saw a peak in cybersecurity incidents, accounting for half of the years observed</a:t>
            </a:r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67128"/>
            <a:ext cx="54864" cy="1261872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258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Growing Fast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5877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attacks recorded 1,541% growth in financial loss impact between 2019 and 2024 — an emerging critical threat.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8638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86386"/>
            <a:ext cx="54864" cy="12618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27782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Under Resourced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260701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recorded the highest incidents relative to available response teams — a significant resource imbalance.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77440" y="3584448"/>
            <a:ext cx="54864" cy="126187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Repeat Targets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42032" y="40050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organizations were attacked every year from 2019 to 2024, signalling persistent targeting of critical institutions.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F4EC"/>
          </a:solidFill>
          <a:ln w="12700">
            <a:solidFill>
              <a:srgbClr val="C5D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Cybersecurity Incident Analysis (2019–2024)  |  TDI Emerald Cohort  |  SQL Data Analysis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618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Sector Investments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telecom, government, and critical infrastructure sectors should increase cybersecurity investments and strengthen monitoring capabilities.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49808"/>
            <a:ext cx="54864" cy="126187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Pre-Year Security Audits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1704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security audits, employee awareness training, and vulnerability assessments before the start of each year to prepare for January peaks.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67128"/>
            <a:ext cx="54864" cy="1261872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58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Resolution Times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5877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investigation and resolution times minimizes unrecovered financial losses and improves organizational resilience.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67128"/>
            <a:ext cx="54864" cy="1261872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258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Zero Trust for MitM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58775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MFA, encryption, secure communication protocols, and Zero Trust frameworks to counter the rapidly growing Man-in-the-Middle threat.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84448"/>
            <a:ext cx="54864" cy="1261872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More Teams to Lagos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40050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response teams and cybersecurity professionals should be deployed to Lagos to address its disproportionately high incident-to-team ratio.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C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84448"/>
            <a:ext cx="54864" cy="126187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for Repeat Targets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0050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repeatedly attacked should adopt continuous threat monitoring, penetration testing, and proactive risk management strategies.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5097780"/>
            <a:ext cx="9070848" cy="45720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259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828800" y="4773168"/>
            <a:ext cx="5486400" cy="2743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Emerald Cohort  ·  SQL Data Analysis Capstone  ·  Nigeria Cybersecurity Incident Analysis (2019–2024)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D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21F36-1729-948E-4607-90A83928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9B0BC9-5474-2492-87E6-AE2D7A7BBAE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5ABC54-9DBD-4CDF-1117-3239D94B8521}"/>
              </a:ext>
            </a:extLst>
          </p:cNvPr>
          <p:cNvSpPr/>
          <p:nvPr/>
        </p:nvSpPr>
        <p:spPr>
          <a:xfrm>
            <a:off x="73152" y="0"/>
            <a:ext cx="9070848" cy="45720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7B25CAA-0058-942F-B24B-FC12ECA825D0}"/>
              </a:ext>
            </a:extLst>
          </p:cNvPr>
          <p:cNvSpPr/>
          <p:nvPr/>
        </p:nvSpPr>
        <p:spPr>
          <a:xfrm>
            <a:off x="73152" y="5097780"/>
            <a:ext cx="9070848" cy="45720"/>
          </a:xfrm>
          <a:prstGeom prst="rect">
            <a:avLst/>
          </a:prstGeom>
          <a:solidFill>
            <a:srgbClr val="52A96E"/>
          </a:solidFill>
          <a:ln w="12700">
            <a:solidFill>
              <a:srgbClr val="52A96E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BA358B-54A2-48B3-DBA9-6A1F99659FF3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B7D86F-FB64-700A-D79E-B703DD619A0C}"/>
              </a:ext>
            </a:extLst>
          </p:cNvPr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5,000 cybersecurity incidents across Nigeria (2019–2024) reveals systemic vulnerabilities that demand urgent, data-driven action.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C9451B-60C0-631A-BB09-A7CC5393C0C8}"/>
              </a:ext>
            </a:extLst>
          </p:cNvPr>
          <p:cNvSpPr/>
          <p:nvPr/>
        </p:nvSpPr>
        <p:spPr>
          <a:xfrm>
            <a:off x="502920" y="1874520"/>
            <a:ext cx="54864" cy="411480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5D1043-0D13-7899-968F-7FFE89071CF2}"/>
              </a:ext>
            </a:extLst>
          </p:cNvPr>
          <p:cNvSpPr/>
          <p:nvPr/>
        </p:nvSpPr>
        <p:spPr>
          <a:xfrm>
            <a:off x="68580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the highest financial losses — sector-specific defenses are critical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C101C4F-5C0A-7E52-3231-471EDE06D582}"/>
              </a:ext>
            </a:extLst>
          </p:cNvPr>
          <p:cNvSpPr/>
          <p:nvPr/>
        </p:nvSpPr>
        <p:spPr>
          <a:xfrm>
            <a:off x="502920" y="2441448"/>
            <a:ext cx="54864" cy="41148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B8F11E7-059A-EF6E-A560-17DA94E9976B}"/>
              </a:ext>
            </a:extLst>
          </p:cNvPr>
          <p:cNvSpPr/>
          <p:nvPr/>
        </p:nvSpPr>
        <p:spPr>
          <a:xfrm>
            <a:off x="685800" y="2441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peak attack month — annual readiness before year-end is essential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D8F82D-3DE6-A736-5E7A-7D1DF50BB2D0}"/>
              </a:ext>
            </a:extLst>
          </p:cNvPr>
          <p:cNvSpPr/>
          <p:nvPr/>
        </p:nvSpPr>
        <p:spPr>
          <a:xfrm>
            <a:off x="502920" y="3042666"/>
            <a:ext cx="54864" cy="411480"/>
          </a:xfrm>
          <a:prstGeom prst="rect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16572BA-6532-09A1-F0AC-A10AD3658C60}"/>
              </a:ext>
            </a:extLst>
          </p:cNvPr>
          <p:cNvSpPr/>
          <p:nvPr/>
        </p:nvSpPr>
        <p:spPr>
          <a:xfrm>
            <a:off x="685800" y="304266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1,541% — Zero Trust and encryption must be adopted nationally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2F3E8B3-ABDF-29D1-0AD6-20A9F9DA54E8}"/>
              </a:ext>
            </a:extLst>
          </p:cNvPr>
          <p:cNvSpPr/>
          <p:nvPr/>
        </p:nvSpPr>
        <p:spPr>
          <a:xfrm>
            <a:off x="502920" y="3609594"/>
            <a:ext cx="54864" cy="411480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0B4973-E02F-B614-8775-DCCB44AFA9DC}"/>
              </a:ext>
            </a:extLst>
          </p:cNvPr>
          <p:cNvSpPr/>
          <p:nvPr/>
        </p:nvSpPr>
        <p:spPr>
          <a:xfrm>
            <a:off x="685800" y="360959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the greatest resource-to-incident gap — urgent team deployment needed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135DA2A-F896-C219-51A8-5D6378024C76}"/>
              </a:ext>
            </a:extLst>
          </p:cNvPr>
          <p:cNvSpPr/>
          <p:nvPr/>
        </p:nvSpPr>
        <p:spPr>
          <a:xfrm>
            <a:off x="1828800" y="4773168"/>
            <a:ext cx="5486400" cy="27432"/>
          </a:xfrm>
          <a:prstGeom prst="rect">
            <a:avLst/>
          </a:prstGeom>
          <a:solidFill>
            <a:srgbClr val="2E7D48"/>
          </a:solidFill>
          <a:ln w="12700">
            <a:solidFill>
              <a:srgbClr val="2E7D48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F4575D-B52E-39D6-966D-E3B30A786F96}"/>
              </a:ext>
            </a:extLst>
          </p:cNvPr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Emerald Cohort  ·  SQL Data Analysis Capstone  ·  Nigeria Cybersecurity Incident Analysis (2019–2024)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8723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1363</Words>
  <Application>Microsoft Office PowerPoint</Application>
  <PresentationFormat>On-screen Show (16:9)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FEJIRO OTUOBA</cp:lastModifiedBy>
  <cp:revision>7</cp:revision>
  <dcterms:created xsi:type="dcterms:W3CDTF">2026-05-30T16:49:48Z</dcterms:created>
  <dcterms:modified xsi:type="dcterms:W3CDTF">2026-06-19T18:16:19Z</dcterms:modified>
</cp:coreProperties>
</file>